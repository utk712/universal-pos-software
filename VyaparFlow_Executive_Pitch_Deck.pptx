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011680" y="1645920"/>
            <a:ext cx="3840480" cy="36576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🏛️ 100% INDIAN STATUTORY &amp; ERP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194560"/>
            <a:ext cx="8138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VyaparFlow POS &amp; ERP</a:t>
            </a:r>
          </a:p>
          <a:p>
            <a:pPr>
              <a:defRPr sz="1600">
                <a:solidFill>
                  <a:srgbClr val="64748B"/>
                </a:solidFill>
              </a:defRPr>
            </a:pPr>
            <a:r>
              <a:t>Next-Generation Multi-Vertical Retail Operating System &amp; CA-Ready Financial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840480"/>
            <a:ext cx="8138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4155"/>
                </a:solidFill>
              </a:defRPr>
            </a:pPr>
            <a:r>
              <a:t>⚡ Sub-Second Offline-First POS Engine (Built to outperform enterprise retail chains)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🟢 Master PC Cashier Command Center with Live Heartbeat &amp; 1-Click Account Killswitch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📑 1-Click CA-Ready GSTR-1 CSV &amp; Dynamic Tally Prime XML Ledger Synchronization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📦 8-in-1 Adaptive Vertical Morphing: Supermarket, Liquor, Pharmacy, Restaurant, Apparel &amp; More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01 | MARKET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$100B Indian Retail Dilemma: Broken Software Landscape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VyaparFlow Technologies | Confidential Executive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❌ Legacy Desktop ERPs</a:t>
            </a:r>
            <a:br/>
            <a:r>
              <a:t>(Tally / Marg / Busy)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86000"/>
            <a:ext cx="2834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• Steep learning curve requiring specialized accountants.</a:t>
            </a:r>
            <a:br/>
            <a:br/>
            <a:r>
              <a:t>• Clunky UI built in 1990s technology; non-intuitive for cashiers.</a:t>
            </a:r>
            <a:br/>
            <a:br/>
            <a:r>
              <a:t>• Zero real-time staff heartbeat monitoring; counter theft is widespread.</a:t>
            </a:r>
            <a:br/>
            <a:br/>
            <a:r>
              <a:t>• Fragile database files prone to corruption during sudden power cuts.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40" y="1828800"/>
            <a:ext cx="1463040" cy="292608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E3A8A"/>
                </a:solidFill>
              </a:defRPr>
            </a:pPr>
            <a:r>
              <a:t>Outdated 90s Tech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8288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❌ Cloud Mobile Apps</a:t>
            </a:r>
            <a:br/>
            <a:r>
              <a:t>(Basic Billing SaaS)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286000"/>
            <a:ext cx="2834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• Require constant high-speed internet; fails in basement shops.</a:t>
            </a:r>
            <a:br/>
            <a:br/>
            <a:r>
              <a:t>• No true multi-counter Master-Slave LAN synchronization.</a:t>
            </a:r>
            <a:br/>
            <a:br/>
            <a:r>
              <a:t>• Lacks critical Section 269ST statutory safety warnings.</a:t>
            </a:r>
            <a:br/>
            <a:br/>
            <a:r>
              <a:t>• Aggressive annual subscription rent that merchants hate paying.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1828800"/>
            <a:ext cx="1463040" cy="292608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E3A8A"/>
                </a:solidFill>
              </a:defRPr>
            </a:pPr>
            <a:r>
              <a:t>SaaS Cloud Trap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8288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🎯 The Merchant's Pain</a:t>
            </a:r>
            <a:br/>
            <a:r>
              <a:t>(Real Cash Leakage)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286000"/>
            <a:ext cx="2834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• Counter Discrepancies: Cash shortages hidden until month end.</a:t>
            </a:r>
            <a:br/>
            <a:br/>
            <a:r>
              <a:t>• Tax Exposure: Receiving &gt;₹2 Lakh cash incurs 100% tax penalty.</a:t>
            </a:r>
            <a:br/>
            <a:br/>
            <a:r>
              <a:t>• CA Friction: Manual tally data entry leads to missing ledgers &amp; fines.</a:t>
            </a:r>
            <a:br/>
            <a:br/>
            <a:r>
              <a:t>• Software Lock-in: Forced to buy separate apps for Liquor, Kirana, or Pharma.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92640" y="1828800"/>
            <a:ext cx="1463040" cy="292608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E3A8A"/>
                </a:solidFill>
              </a:defRPr>
            </a:pPr>
            <a:r>
              <a:t>Merchant Friction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02 | 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VyaparFlow Architecture: Power, Speed &amp; Compliance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VyaparFlow Technologies | Confidential Executive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⚡ 100% Offline-First Speed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8600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Operates with zero internet dependence using local SQLite database engine. Millisecond barcode scans, hotkeys (F2, F8, F9), and instant thermal receipt printing.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828800"/>
            <a:ext cx="1463040" cy="292608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E3A8A"/>
                </a:solidFill>
              </a:defRPr>
            </a:pPr>
            <a:r>
              <a:t>Sub-Millisecond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828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🛡️ Live Master PC Command Center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28600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Store owner monitors all counters live. Cashiers emit a 30s heartbeat. 1-click account suspension prevents rogue billing and drawer leakage instantly.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92639" y="1828800"/>
            <a:ext cx="1463040" cy="292608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E3A8A"/>
                </a:solidFill>
              </a:defRPr>
            </a:pPr>
            <a:r>
              <a:t>Real-Time Sync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114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🏛️ 100% Indian Tax Statutory Guard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57200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Automatic CGST/SGST Rule 46 itemized split, Section 269ST Income Tax cash restriction alert, B2B Buyer GSTIN support, and 1-click GSTR-1 CSV exports.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0" y="4114800"/>
            <a:ext cx="1463040" cy="292608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E3A8A"/>
                </a:solidFill>
              </a:defRPr>
            </a:pPr>
            <a:r>
              <a:t>Govt Compliant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31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114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📑 Zero-Friction Tally Prime Export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57200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Owner customizes exact Tally ledger names (Sales A/c, CGST, SGST, Cash). 1-click XML export drops directly into Chartered Accountant's Tally without errors.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92639" y="4114800"/>
            <a:ext cx="1463040" cy="292608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E3A8A"/>
                </a:solidFill>
              </a:defRPr>
            </a:pPr>
            <a:r>
              <a:t>CA Friendly</a:t>
            </a:r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03 | SCALABLE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8-in-1 Universal Morphing Engine: One Platform, Every Business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VyaparFlow Technologies | Confidential Executive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747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🛒 Supermarkets &amp; Kirana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8600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KG/Gram/Pcs units, dual pricing (MRP vs Selling), loose item weigh-scale support, FMCG barcode catalog.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4747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828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🍺 Wine &amp; Beer Shops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28600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750ml Bottle, 375ml Half, 180ml Quarter, Can, Case units. Multi-bottle pricing and excise report compatibility.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4747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828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💊 Pharmacy &amp; Medical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28600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Batch number, expiry dates, salt name composition, prescription Rx verification flag, and scheduled drug compliance.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31920"/>
            <a:ext cx="34747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114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🍽️ Restaurant &amp; Cafes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57200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Dine-in table management, KOT kitchen routing, portion/half-plate units, split bill tender, service charges.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3931920"/>
            <a:ext cx="34747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4114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👕 Apparel &amp; Footwear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457200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Size &amp; color variants, barcode tag generation, seasonal clearance discounts, alteration notes.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3931920"/>
            <a:ext cx="34747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4114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📱 Electronics &amp; Hardware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457200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Serial number / IMEI tracking, warranty management, spare part units, B2B GST tax invoices.</a:t>
            </a:r>
          </a:p>
        </p:txBody>
      </p:sp>
    </p:spTree>
  </p:cSld>
  <p:clrMapOvr>
    <a:masterClrMapping/>
  </p:clrMapOvr>
  <p:transition spd="med">
    <p:push dir="u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04 | LEGAL &amp; TAX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Enterprise Statutory Compliance: Protecting Merchants from Fines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VyaparFlow Technologies | Confidential Executive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🧾 CGST Rule 46 Dual Tax Breakdown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8600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Replaces vague single lumped tax with itemized rate-wise table: Tax Rate %, Taxable Value (₹), Central CGST (₹), State SGST (₹), Total GST (₹). Fulfills legal retail POS disclosure.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828800"/>
            <a:ext cx="1463040" cy="292608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E3A8A"/>
                </a:solidFill>
              </a:defRPr>
            </a:pPr>
            <a:r>
              <a:t>Rule 46(j) &amp; (k)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828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⚠️ Section 269ST Income Tax Cash Guard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28600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Restricts cash receipts of ₹2,00,000+ in single transactions. Automatically displays high-risk warning dialog, saving the merchant from 100% statutory penalty under Sec 271DA.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92639" y="1828800"/>
            <a:ext cx="1463040" cy="292608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E3A8A"/>
                </a:solidFill>
              </a:defRPr>
            </a:pPr>
            <a:r>
              <a:t>100% Fine Prevention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114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🏢 B2B Invoicing &amp; Place of Supply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57200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Optional 1-click B2B mode on terminal with 15-digit GSTIN validation. Receipts automatically display 'TAX INVOICE (B2B)', Customer GSTIN, and POS State Code.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0" y="4114800"/>
            <a:ext cx="1463040" cy="292608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E3A8A"/>
                </a:solidFill>
              </a:defRPr>
            </a:pPr>
            <a:r>
              <a:t>B2B Ready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3192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114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📥 1-Click GSTR-1 CA Monthly Export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57200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Generates portal-ready CSV with Table 7 (B2CS Intra-state rate-wise), Table 12 (HSN summary with UQC pcs/bottles), and Table 4A (B2B invoices).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92639" y="4114800"/>
            <a:ext cx="1463040" cy="292608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E3A8A"/>
                </a:solidFill>
              </a:defRPr>
            </a:pPr>
            <a:r>
              <a:t>CA-Ready CSV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05 | LOSS PREVENTION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Real-Time Master PC Command Center: Zero Counter Leakage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VyaparFlow Technologies | Confidential Executive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🟢 Live Counter Presence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86000"/>
            <a:ext cx="2834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• 30-Second Background Heartbeat: Terminal pings master PC continuously.</a:t>
            </a:r>
            <a:br/>
            <a:br/>
            <a:r>
              <a:t>• Live Status Pill: Pulsing green badge instantly shows active cashier name and counter.</a:t>
            </a:r>
            <a:br/>
            <a:br/>
            <a:r>
              <a:t>• Multi-Machine Discovery: Automatically binds Counter 1, Counter 2, and Express Lanes on local network.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40" y="1828800"/>
            <a:ext cx="1463040" cy="292608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E3A8A"/>
                </a:solidFill>
              </a:defRPr>
            </a:pPr>
            <a:r>
              <a:t>Zero Polling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8288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🛡️ Master Security Killswitch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286000"/>
            <a:ext cx="2834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• 1-Click Suspension: Owner can disable any cashier account in 1 click.</a:t>
            </a:r>
            <a:br/>
            <a:br/>
            <a:r>
              <a:t>• Instant Blockade: Disabled accounts receive HTTP 403 Forbidden and are kicked out immediately.</a:t>
            </a:r>
            <a:br/>
            <a:br/>
            <a:r>
              <a:t>• Master Password Reset: Reset forgotten cashier passwords directly without touching DB.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1828800"/>
            <a:ext cx="1463040" cy="292608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E3A8A"/>
                </a:solidFill>
              </a:defRPr>
            </a:pPr>
            <a:r>
              <a:t>Anti-Theft Guard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8288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💵 Blind Shift Cash Audit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286000"/>
            <a:ext cx="2834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• End-of-Shift Reconciliation: Cashier counts physical currency notes (₹500, ₹200, ₹100, ₹50, etc.).</a:t>
            </a:r>
            <a:br/>
            <a:br/>
            <a:r>
              <a:t>• Automatic Variance Detection: System compares expected drawer total vs actual counted cash.</a:t>
            </a:r>
            <a:br/>
            <a:br/>
            <a:r>
              <a:t>• Shortage Accountability: Shortages are permanently flagged in audit trail.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92640" y="1828800"/>
            <a:ext cx="1463040" cy="292608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E3A8A"/>
                </a:solidFill>
              </a:defRPr>
            </a:pPr>
            <a:r>
              <a:t>Accountability</a:t>
            </a:r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06 | 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Go-To-Market &amp; Revenue Model: High Margin Software Distribution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VyaparFlow Technologies | Confidential Executive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📦 Tier 1: Perpetual License</a:t>
            </a:r>
            <a:br/>
            <a:r>
              <a:t>(Merchant Favorite)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86000"/>
            <a:ext cx="2834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• Price: ₹9,999 One-Time Setup.</a:t>
            </a:r>
            <a:br/>
            <a:br/>
            <a:r>
              <a:t>• Includes lifetime offline desktop POS license for 1 Master PC.</a:t>
            </a:r>
            <a:br/>
            <a:br/>
            <a:r>
              <a:t>• Annual Maintenance Contract (AMC): ₹2,499/year for updates &amp; GST changes.</a:t>
            </a:r>
            <a:br/>
            <a:br/>
            <a:r>
              <a:t>• Merchants love zero monthly rent anxiety.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40" y="1828800"/>
            <a:ext cx="1463040" cy="292608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E3A8A"/>
                </a:solidFill>
              </a:defRPr>
            </a:pPr>
            <a:r>
              <a:t>High Upfront Cash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8288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🚀 Tier 2: Annual SaaS Model</a:t>
            </a:r>
            <a:br/>
            <a:r>
              <a:t>(Recurring Cashflow)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286000"/>
            <a:ext cx="2834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• Price: ₹5,999 / Year per Store (₹499/mo).</a:t>
            </a:r>
            <a:br/>
            <a:br/>
            <a:r>
              <a:t>• Includes software updates, automated data backup, and priority phone support.</a:t>
            </a:r>
            <a:br/>
            <a:br/>
            <a:r>
              <a:t>• Auxiliary Counters: ₹1,999/year per extra billing terminal.</a:t>
            </a:r>
            <a:br/>
            <a:br/>
            <a:r>
              <a:t>• High lifetime value (LTV) and compounding MRR.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1828800"/>
            <a:ext cx="1463040" cy="292608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E3A8A"/>
                </a:solidFill>
              </a:defRPr>
            </a:pPr>
            <a:r>
              <a:t>Predictable MRR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8288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🖨️ Tier 3: Hardware Bundling</a:t>
            </a:r>
            <a:br/>
            <a:r>
              <a:t>(Turnkey Retail Pack)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286000"/>
            <a:ext cx="2834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• Complete Retail POS Bundle: ₹24,999.</a:t>
            </a:r>
            <a:br/>
            <a:br/>
            <a:r>
              <a:t>• Includes VyaparFlow software + 80mm High-Speed Thermal Printer + 2D USB Barcode Scanner.</a:t>
            </a:r>
            <a:br/>
            <a:br/>
            <a:r>
              <a:t>• Up to 40% margin on hardware vendor tie-ups.</a:t>
            </a:r>
            <a:br/>
            <a:br/>
            <a:r>
              <a:t>• Single point of contact for the shopkeeper.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92640" y="1828800"/>
            <a:ext cx="1463040" cy="292608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E3A8A"/>
                </a:solidFill>
              </a:defRPr>
            </a:pPr>
            <a:r>
              <a:t>Turnkey Package</a:t>
            </a:r>
          </a:p>
        </p:txBody>
      </p:sp>
    </p:spTree>
  </p:cSld>
  <p:clrMapOvr>
    <a:masterClrMapping/>
  </p:clrMapOvr>
  <p:transition spd="med">
    <p:wipe dir="l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07 | COMPETITIVE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Competitive Moat: Why VyaparFlow Wins in the Field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VyaparFlow Technologies | Confidential Executive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⚔️ vs. Marg / Tally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86000"/>
            <a:ext cx="2834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• Modern UI: Zero training needed; a 10th-pass cashier can bill in 5 minutes.</a:t>
            </a:r>
            <a:br/>
            <a:br/>
            <a:r>
              <a:t>• Built-in Hardware Sync: Auto-prints thermal receipts without complex print drivers.</a:t>
            </a:r>
            <a:br/>
            <a:br/>
            <a:r>
              <a:t>• Tally-Friendly: Complements Tally rather than replacing it by feeding CA-ready XML.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40" y="1828800"/>
            <a:ext cx="1463040" cy="292608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E3A8A"/>
                </a:solidFill>
              </a:defRPr>
            </a:pPr>
            <a:r>
              <a:t>User Experience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8288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⚔️ vs. Vyapar / Mobile Apps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286000"/>
            <a:ext cx="2834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• True Multi-Counter: Handles busy supermarket lanes with master-slave sync.</a:t>
            </a:r>
            <a:br/>
            <a:br/>
            <a:r>
              <a:t>• 100% Offline: Never slows down or spins loading spinners during internet outages.</a:t>
            </a:r>
            <a:br/>
            <a:br/>
            <a:r>
              <a:t>• Desktop Power: Handles 100,000+ SKUs with instant search indexing.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1828800"/>
            <a:ext cx="1463040" cy="292608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E3A8A"/>
                </a:solidFill>
              </a:defRPr>
            </a:pPr>
            <a:r>
              <a:t>Enterprise Scale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8288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⚔️ vs. Petpooja / POSist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286000"/>
            <a:ext cx="2834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• Single Universal Engine: Not restricted to restaurants; spans Liquor, Kirana, Pharma.</a:t>
            </a:r>
            <a:br/>
            <a:br/>
            <a:r>
              <a:t>• Merchant Ownership: No aggressive commissions or lock-ins.</a:t>
            </a:r>
            <a:br/>
            <a:br/>
            <a:r>
              <a:t>• Affordable Pricing: 70% cheaper than enterprise cloud POS providers.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92640" y="1828800"/>
            <a:ext cx="1463040" cy="292608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E3A8A"/>
                </a:solidFill>
              </a:defRPr>
            </a:pPr>
            <a:r>
              <a:t>Cost Leadership</a:t>
            </a:r>
          </a:p>
        </p:txBody>
      </p:sp>
    </p:spTree>
  </p:cSld>
  <p:clrMapOvr>
    <a:masterClrMapping/>
  </p:clrMapOvr>
  <p:transition spd="med">
    <p:push dir="u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08 | TRACTION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Current Status: 100% Tested, Verified &amp; Packaged Executable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VyaparFlow Technologies | Confidential Executive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📦 86.37 MB Standalone NSIS Windows Installer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8600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Self-contained executable (VyaparFlow_POS_Setup_1.0.0.exe). Bundles Node runtime, React production bundle, and SQLite engine. 1-click install on any Windows 10/11 PC.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828800"/>
            <a:ext cx="1463040" cy="292608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E3A8A"/>
                </a:solidFill>
              </a:defRPr>
            </a:pPr>
            <a:r>
              <a:t>Ready to Ship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828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🧹 100% Clean Factory State 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28600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All sample test invoices, expenses, and login credentials purged. First launch auto-triggers First-Time Setup Wizard for new merchant onboarding.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92639" y="1828800"/>
            <a:ext cx="1463040" cy="292608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E3A8A"/>
                </a:solidFill>
              </a:defRPr>
            </a:pPr>
            <a:r>
              <a:t>Pristine State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114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🧪 100% Passing Automated Test Suite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57200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Auth JWT verification, Heartbeat ping, Killswitch blocking, Cash closing calculations, GSTR-1 CSV exports, and Tally XML generation all verified.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0" y="4114800"/>
            <a:ext cx="1463040" cy="292608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E3A8A"/>
                </a:solidFill>
              </a:defRPr>
            </a:pPr>
            <a:r>
              <a:t>Zero Defects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3192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114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🤝 Immediate Milestone: 10-Store Pilot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57200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Ready for instant deployment across 10-20 local merchant partners to validate daily sales conversion and operational throughput.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92639" y="4114800"/>
            <a:ext cx="1463040" cy="292608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E3A8A"/>
                </a:solidFill>
              </a:defRPr>
            </a:pPr>
            <a:r>
              <a:t>Pilot Phase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09 | MENTORSHIP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Strategic Roadmap: The Ask &amp; Advisory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VyaparFlow Technologies | Confidential Executive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🎯 1. Distribution &amp; Channel GTM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86000"/>
            <a:ext cx="2834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• Computer Hardware Resellers: Structuring commissions for thermal printer &amp; barcode scanner dealers.</a:t>
            </a:r>
            <a:br/>
            <a:br/>
            <a:r>
              <a:t>• CA &amp; Accountant Networks: Positioning VyaparFlow as a Tally-friendly feeder system.</a:t>
            </a:r>
            <a:br/>
            <a:br/>
            <a:r>
              <a:t>• Target: 100 paid store installs in first 6 months across Tier-2/3 retail hubs.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40" y="1828800"/>
            <a:ext cx="1463040" cy="292608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E3A8A"/>
                </a:solidFill>
              </a:defRPr>
            </a:pPr>
            <a:r>
              <a:t>Distribution Strategy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8288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💼 2. Pricing &amp; Cash Flow Strategy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286000"/>
            <a:ext cx="2834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• Perpetual (₹9,999) vs SaaS (₹5,999/yr): Optimizing upfront merchant cash flow vs recurring valuation.</a:t>
            </a:r>
            <a:br/>
            <a:br/>
            <a:r>
              <a:t>• Hardware Bundling (₹24,999): Securing bulk supplier pricing for 40%+ margins.</a:t>
            </a:r>
            <a:br/>
            <a:br/>
            <a:r>
              <a:t>• Guidance on customer support SLAs &amp; AMC renewals.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1828800"/>
            <a:ext cx="1463040" cy="292608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E3A8A"/>
                </a:solidFill>
              </a:defRPr>
            </a:pPr>
            <a:r>
              <a:t>Unit Economics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8288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🏢 3. Entity &amp; Brand Formation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286000"/>
            <a:ext cx="2834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• Corporate Entity Incorporation: Structuring Pvt Ltd / LLP equity and trademark registration.</a:t>
            </a:r>
            <a:br/>
            <a:br/>
            <a:r>
              <a:t>• Intellectual Property: Protecting offline encryption algorithms and multi-vertical engine.</a:t>
            </a:r>
            <a:br/>
            <a:br/>
            <a:r>
              <a:t>• Building a lean, tech-driven retail operating brand.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92640" y="1828800"/>
            <a:ext cx="1463040" cy="292608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E3A8A"/>
                </a:solidFill>
              </a:defRPr>
            </a:pPr>
            <a:r>
              <a:t>Corporate Scale</a:t>
            </a:r>
          </a:p>
        </p:txBody>
      </p:sp>
    </p:spTree>
  </p:cSld>
  <p:clrMapOvr>
    <a:masterClrMapping/>
  </p:clrMapOvr>
  <p:transition spd="med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